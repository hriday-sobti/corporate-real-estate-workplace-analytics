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A5F"/>
                </a:solidFill>
              </a:defRPr>
            </a:pPr>
            <a:r>
              <a:t>EXECUTIVE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Regional real estate represents 20,540 seats across 11 key metropolitan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Corporate Real Estate Portfolio &amp; Workplace Analytics | Regional Review | Slide 1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2240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t>PORTFOLIO SCOPE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25 Properties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11 Cities across 6 Countries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73152" cy="1280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44752"/>
            <a:ext cx="2240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t>USABLE WORK AREA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190,225 m²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16.2% Building loss factor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1280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2240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t>CAPACITY &amp; HEADCOUNT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20,540 Seats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25,270 Staff (1.23:1 sharing)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46888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73152" cy="1280160"/>
          </a:xfrm>
          <a:prstGeom prst="rect">
            <a:avLst/>
          </a:prstGeom>
          <a:solidFill>
            <a:srgbClr val="E07A5F"/>
          </a:solidFill>
          <a:ln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444752"/>
            <a:ext cx="2240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t>OPERATING EXPENSE</a:t>
            </a:r>
          </a:p>
          <a:p>
            <a:pPr>
              <a:defRPr sz="2200" b="1">
                <a:solidFill>
                  <a:srgbClr val="E07A5F"/>
                </a:solidFill>
              </a:defRPr>
            </a:pPr>
            <a:r>
              <a:t>₹597.5 Cr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₹31,408 per usable 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5212080" cy="320040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Operational Architecture &amp; Market Concentration</a:t>
            </a:r>
          </a:p>
          <a:p>
            <a:br/>
            <a:pPr>
              <a:defRPr sz="1050">
                <a:solidFill>
                  <a:srgbClr val="4A5568"/>
                </a:solidFill>
              </a:defRPr>
            </a:pPr>
            <a:r>
              <a:t>• India Footprint (75.9% of Space): 15 facilities spanning Bengaluru, Pune, Hyderabad, Chennai, Mumbai, and Delhi NCR. Delivers high-capacity software R&amp;D and shared business operations at efficient carrying costs (₹15,000–₹24,000/m²).</a:t>
            </a:r>
            <a:br/>
            <a:br/>
            <a:r>
              <a:t>• Asia-Pacific Footprint (24.1% of Space): 10 facilities across Singapore, Sydney, Kuala Lumpur, Bangkok, and Jakarta. Hosts regional corporate headquarters and commercial client centers representing 56.8% of portfolio operational expenditure.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5212080" cy="320040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Strategic Governance Objectives</a:t>
            </a:r>
          </a:p>
          <a:p>
            <a:br/>
            <a:pPr>
              <a:defRPr sz="1050">
                <a:solidFill>
                  <a:srgbClr val="4A5568"/>
                </a:solidFill>
              </a:defRPr>
            </a:pPr>
            <a:r>
              <a:t>• Empirical Decision Support: Move executive decision-making away from static headcount ratios toward validated, time-series presence analytics.</a:t>
            </a:r>
            <a:br/>
            <a:br/>
            <a:r>
              <a:t>• Near-Term Renewal Windows: Establish proactive negotiation strategy across 10 upcoming lease expirations in the next 12 months (₹105.8 Cr in annual base rent commitments).</a:t>
            </a:r>
            <a:br/>
            <a:br/>
            <a:r>
              <a:t>• Spatial Agility: Identify persistent vacant carrying liabilities without triggering overcrowding friction during peak collaborative mid-week periods.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A5F"/>
                </a:solidFill>
              </a:defRPr>
            </a:pPr>
            <a:r>
              <a:t>WORKPLACE UTILIZATION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Peak demand tells a completely different story from the monthly portfolio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Corporate Real Estate Portfolio &amp; Workplace Analytics | Regional Review | Slide 2 of 7</a:t>
            </a:r>
          </a:p>
        </p:txBody>
      </p:sp>
      <p:pic>
        <p:nvPicPr>
          <p:cNvPr id="6" name="Picture 5" descr="eda_weekday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23760" y="1371600"/>
            <a:ext cx="420624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Empirical Utilization Takeaways</a:t>
            </a:r>
          </a:p>
          <a:p>
            <a:br/>
            <a:pPr>
              <a:defRPr sz="1100">
                <a:solidFill>
                  <a:srgbClr val="4A5568"/>
                </a:solidFill>
              </a:defRPr>
            </a:pPr>
            <a:r>
              <a:t>• Monthly Average Masking Effect: Regional utilization averages 59.4%. However, mid-week attendance surges to 74.2% on Wednesdays with peak hours hitting 89.1%.</a:t>
            </a:r>
            <a:br/>
            <a:br/>
            <a:r>
              <a:t>• Friday Occupancy Collapse: Friday presence drops to 37.2%, reflecting widespread enterprise remote flexibility. Designing for Friday would cause severe overcrowding; designing for Wednesday leaves space empty.</a:t>
            </a:r>
            <a:br/>
            <a:br/>
            <a:r>
              <a:t>• Management Rule: Footprint consolidation must be preceded by attendance smoothing policies (e.g. departmental scheduling) to prevent capacity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A5F"/>
                </a:solidFill>
              </a:defRPr>
            </a:pPr>
            <a:r>
              <a:t>CAPACITY BOTTLENECKS &amp; PRESSURE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Seven facilities operate under severe capacity friction despite modest weekly averages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Corporate Real Estate Portfolio &amp; Workplace Analytics | Regional Review | Slide 3 of 7</a:t>
            </a:r>
          </a:p>
        </p:txBody>
      </p:sp>
      <p:pic>
        <p:nvPicPr>
          <p:cNvPr id="6" name="Picture 5" descr="eda_pressu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371600"/>
            <a:ext cx="402336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Workplace Pressure Quadrants</a:t>
            </a:r>
          </a:p>
          <a:p>
            <a:br/>
            <a:pPr>
              <a:defRPr sz="1100">
                <a:solidFill>
                  <a:srgbClr val="4A5568"/>
                </a:solidFill>
              </a:defRPr>
            </a:pPr>
            <a:r>
              <a:t>• Capacity-Constrained (8 Assets): Bengaluru Tower 1, Singapore MBFC, Hyderabad Cyber Horizon. High average (≥55%) and extreme peak (≥80%). Choke points occur on &gt;20% of days.</a:t>
            </a:r>
            <a:br/>
            <a:br/>
            <a:r>
              <a:t>• Peak-Sensitive (5 Assets): Mumbai BKC, Bangkok Sathorn, Pune Kalyani. Modest averages (&lt;55%) but sudden mid-week spikes (≥80%).</a:t>
            </a:r>
            <a:br/>
            <a:br/>
            <a:r>
              <a:t>• Chronic Underutilization (6 Assets): Pune Magarpatta, Chennai Guindy, Delhi Express. Both average &amp; peak stay low (&lt;55% avg, &lt;80% peak). Immediate candidates for consolidation.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A5F"/>
                </a:solidFill>
              </a:defRPr>
            </a:pPr>
            <a:r>
              <a:t>OCCUPANCY COST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Vacant seat carrying cost creates an effective 68.4% cost penalty across the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Corporate Real Estate Portfolio &amp; Workplace Analytics | Regional Review | Slide 4 of 7</a:t>
            </a:r>
          </a:p>
        </p:txBody>
      </p:sp>
      <p:pic>
        <p:nvPicPr>
          <p:cNvPr id="6" name="Picture 5" descr="eda_cost_vs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371600"/>
            <a:ext cx="402336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Financial Carrying Insights</a:t>
            </a:r>
          </a:p>
          <a:p>
            <a:br/>
            <a:pPr>
              <a:defRPr sz="1100">
                <a:solidFill>
                  <a:srgbClr val="4A5568"/>
                </a:solidFill>
              </a:defRPr>
            </a:pPr>
            <a:r>
              <a:t>• Cost per Available Seat: Averages ₹290,872/year across the regional portfolio.</a:t>
            </a:r>
            <a:br/>
            <a:br/>
            <a:r>
              <a:t>• Cost per Occupied Seat: Averages ₹489,850/year—a ₹198,978 carrying penalty per seat driven by vacant desks.</a:t>
            </a:r>
            <a:br/>
            <a:br/>
            <a:r>
              <a:t>• Extreme Metro Outliers: Low-utilization commercial offices in Mumbai BKC and Sydney CBD escalate to ₹1,030,000–₹1,840,000 per occupied seat.</a:t>
            </a:r>
            <a:br/>
            <a:br/>
            <a:r>
              <a:t>• Financial Focus: Rightsizing low-utilization leases delivers immediate margin relief.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A5F"/>
                </a:solidFill>
              </a:defRPr>
            </a:pPr>
            <a:r>
              <a:t>LEASE EXPOSURE &amp; ATTENTION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Ten lease expirations within 12 months align with highest operational priority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Corporate Real Estate Portfolio &amp; Workplace Analytics | Regional Review | Slide 5 of 7</a:t>
            </a:r>
          </a:p>
        </p:txBody>
      </p:sp>
      <p:pic>
        <p:nvPicPr>
          <p:cNvPr id="6" name="Picture 5" descr="eda_attention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371600"/>
            <a:ext cx="402336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Portfolio Attention Priorities</a:t>
            </a:r>
          </a:p>
          <a:p>
            <a:br/>
            <a:pPr>
              <a:defRPr sz="1100">
                <a:solidFill>
                  <a:srgbClr val="4A5568"/>
                </a:solidFill>
              </a:defRPr>
            </a:pPr>
            <a:r>
              <a:t>• Singapore Marina Bay (Rank #1): Premium CBD cost (₹2.16M/occ seat) combined with February 2027 expiry (5 months away).</a:t>
            </a:r>
            <a:br/>
            <a:br/>
            <a:r>
              <a:t>• Mumbai Nariman Point (Rank #2): High cost, expiring March 2027 (6 months away).</a:t>
            </a:r>
            <a:br/>
            <a:br/>
            <a:r>
              <a:t>• Sydney Barangaroo (Rank #3): Substantial lease liability (₹48.6 Cr base rent), expiring April 2027.</a:t>
            </a:r>
            <a:br/>
            <a:br/>
            <a:r>
              <a:t>• Chennai Guindy (Rank #4): 42% utilization, expiring March 2027. Prime consolidation candidate.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A5F"/>
                </a:solidFill>
              </a:defRPr>
            </a:pPr>
            <a:r>
              <a:t>DATA QUALITY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Decision-making is backed by an audited 99.98% clean relational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Corporate Real Estate Portfolio &amp; Workplace Analytics | Regional Review | Slide 6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2240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t>RECORDS EVALUATED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282,584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Full ingestion universe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73152" cy="12801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44752"/>
            <a:ext cx="2240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t>QUALITY PASS RATE</a:t>
            </a:r>
          </a:p>
          <a:p>
            <a:pPr>
              <a:defRPr sz="2200" b="1">
                <a:solidFill>
                  <a:srgbClr val="2E7D32"/>
                </a:solidFill>
              </a:defRPr>
            </a:pPr>
            <a:r>
              <a:t>99.98%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282,520 records pristine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128016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2240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t>INJECTED DEFECTS</a:t>
            </a:r>
          </a:p>
          <a:p>
            <a:pPr>
              <a:defRPr sz="2200" b="1">
                <a:solidFill>
                  <a:srgbClr val="C0392B"/>
                </a:solidFill>
              </a:defRPr>
            </a:pPr>
            <a:r>
              <a:t>44 Issues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100% detected &amp; logged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46888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73152" cy="1280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444752"/>
            <a:ext cx="2240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t>GOVERNANCE RULES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12 Codified Rules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DQ001 to DQ012 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10698480" cy="320040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Relational Data Quality Framework Architecture</a:t>
            </a:r>
          </a:p>
          <a:p>
            <a:br/>
            <a:pPr>
              <a:defRPr sz="1100">
                <a:solidFill>
                  <a:srgbClr val="4A5568"/>
                </a:solidFill>
              </a:defRPr>
            </a:pPr>
            <a:r>
              <a:t>• Multi-Tier Ingestion: RAW data maintains operational imperfections; automated validation detects anomalies; CLEAN layer remediates and standardizes; ANALYTICAL layer loads verified facts.</a:t>
            </a:r>
            <a:br/>
            <a:br/>
            <a:r>
              <a:t>• Critical Integrity Enforced: Zero orphaned foreign keys; strict capacity boundaries (ActualOccupants ≤ Capacity); non-negative financial records; and corrected chronological lease contracts.</a:t>
            </a:r>
            <a:br/>
            <a:br/>
            <a:r>
              <a:t>• Complete Transparency: Page 6 of the Power BI dashboard and Sheet 6 of the Excel workbook expose the full audit ledger from data/quality_issue_manifest.csv.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A5F"/>
                </a:solidFill>
              </a:defRPr>
            </a:pPr>
            <a:r>
              <a:t>MANAGEMENT DECISION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Strategic space consolidation unlocks ₹11.64 Cr in recurring annual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Corporate Real Estate Portfolio &amp; Workplace Analytics | Regional Review | Slide 7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91840" cy="384048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Scenario 1: Conservative</a:t>
            </a:r>
          </a:p>
          <a:p>
            <a:br/>
            <a:pPr>
              <a:defRPr sz="1050">
                <a:solidFill>
                  <a:srgbClr val="4A5568"/>
                </a:solidFill>
              </a:defRPr>
            </a:pPr>
            <a:r>
              <a:t>• 10% Seat Surrender across 11 low-utilization assets</a:t>
            </a:r>
            <a:br/>
            <a:r>
              <a:t>• Seats Surrendered: 710 seats</a:t>
            </a:r>
            <a:br/>
            <a:r>
              <a:t>• Area Rationalized: 6,373 m²</a:t>
            </a:r>
            <a:br/>
            <a:r>
              <a:t>• Annual Cost Savings: ₹7.76 Cr</a:t>
            </a:r>
            <a:br/>
            <a:r>
              <a:t>• New Portfolio Util: 61.5%</a:t>
            </a:r>
            <a:br/>
            <a:r>
              <a:t>• Choke Point Risk: 0 assets breach 85% peak buffer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383280" cy="3840480"/>
          </a:xfrm>
          <a:prstGeom prst="rect">
            <a:avLst/>
          </a:prstGeom>
          <a:solidFill>
            <a:srgbClr val="EBF8FF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Scenario 2: Balanced (Recommended)</a:t>
            </a:r>
          </a:p>
          <a:p>
            <a:br/>
            <a:pPr>
              <a:defRPr sz="1050">
                <a:solidFill>
                  <a:srgbClr val="4A5568"/>
                </a:solidFill>
              </a:defRPr>
            </a:pPr>
            <a:r>
              <a:t>• 15% Seat Surrender with agile desk sharing (1.35:1)</a:t>
            </a:r>
            <a:br/>
            <a:r>
              <a:t>• Seats Surrendered: 1,064 seats</a:t>
            </a:r>
            <a:br/>
            <a:r>
              <a:t>• Area Rationalized: 9,550 m²</a:t>
            </a:r>
            <a:br/>
            <a:r>
              <a:t>• Annual Cost Savings: ₹11.64 Cr</a:t>
            </a:r>
            <a:br/>
            <a:r>
              <a:t>• New Portfolio Util: 62.6%</a:t>
            </a:r>
            <a:br/>
            <a:r>
              <a:t>• Choke Point Risk: 1 asset requires desk booking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371600"/>
            <a:ext cx="3291840" cy="3840480"/>
          </a:xfrm>
          <a:prstGeom prst="rect">
            <a:avLst/>
          </a:prstGeom>
          <a:solidFill>
            <a:srgbClr val="F1F5F9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Scenario 3: Strategic Footprint</a:t>
            </a:r>
          </a:p>
          <a:p>
            <a:br/>
            <a:pPr>
              <a:defRPr sz="1050">
                <a:solidFill>
                  <a:srgbClr val="4A5568"/>
                </a:solidFill>
              </a:defRPr>
            </a:pPr>
            <a:r>
              <a:t>• 20% Surrender on expiring lease assets</a:t>
            </a:r>
            <a:br/>
            <a:r>
              <a:t>• Seats Surrendered: 1,420 seats</a:t>
            </a:r>
            <a:br/>
            <a:r>
              <a:t>• Area Rationalized: 12,745 m²</a:t>
            </a:r>
            <a:br/>
            <a:r>
              <a:t>• Annual Cost Savings: ₹15.53 Cr</a:t>
            </a:r>
            <a:br/>
            <a:r>
              <a:t>• New Portfolio Util: 63.8%</a:t>
            </a:r>
            <a:br/>
            <a:r>
              <a:t>• Choke Point Risk: 4 assets breach 85% peak limit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Recommended Executive Actions: (1) Authorize Scenario 2 consolidation negotiations; (2) Initiate notice preparations for Singapore and Mumbai leases; (3) Roll out mid-week desk booking in tech campuses.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